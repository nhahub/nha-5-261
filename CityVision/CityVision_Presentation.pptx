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51ed918-ab6c-f405-970a-54f89539a968}">
          <p14:sldIdLst>
            <p14:sldId id="256"/>
          </p14:sldIdLst>
        </p14:section>
        <p14:section name="Context" id="{751f535f-6594-78ed-d321-72e54a3be205}">
          <p14:sldIdLst>
            <p14:sldId id="257"/>
            <p14:sldId id="258"/>
            <p14:sldId id="259"/>
            <p14:sldId id="260"/>
          </p14:sldIdLst>
        </p14:section>
        <p14:section name="Plan" id="{4311cba8-c903-8411-b39f-bda9d28c0112}">
          <p14:sldIdLst>
            <p14:sldId id="261"/>
            <p14:sldId id="262"/>
            <p14:sldId id="263"/>
            <p14:sldId id="264"/>
          </p14:sldIdLst>
        </p14:section>
        <p14:section name="Success" id="{cd5fb1f5-b838-96c3-8b8e-0347baff65b5}">
          <p14:sldIdLst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40080" y="1371600"/>
            <a:ext cx="65836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640080" y="3017520"/>
            <a:ext cx="65836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CityVision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3716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CityVision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30175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Smart City Intelligence &amp; Analytics Platform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Graduation Project · Team of 6 · 6-week plan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From fragmented data to one city view</a:t>
            </a:r>
            <a:endParaRPr lang="en-US" sz="3200" dirty="0"/>
          </a:p>
        </p:txBody>
      </p:sp>
      <p:sp>
        <p:nvSpPr>
          <p:cNvPr id="3" name="Problem card"/>
          <p:cNvSpPr/>
          <p:nvPr/>
        </p:nvSpPr>
        <p:spPr>
          <a:xfrm>
            <a:off x="457200" y="1280160"/>
            <a:ext cx="397764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Problem heading"/>
          <p:cNvSpPr txBox="1"/>
          <p:nvPr/>
        </p:nvSpPr>
        <p:spPr>
          <a:xfrm>
            <a:off x="731520" y="1463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5" name="Problem points"/>
          <p:cNvSpPr txBox="1"/>
          <p:nvPr/>
        </p:nvSpPr>
        <p:spPr>
          <a:xfrm>
            <a:off x="731520" y="196596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Urban data lives in separate sectors and sources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Formats, timestamps, geography, and granularity differ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Hard to find priority areas, patterns, and trends</a:t>
            </a:r>
            <a:endParaRPr lang="en-US" sz="1400" dirty="0"/>
          </a:p>
        </p:txBody>
      </p:sp>
      <p:sp>
        <p:nvSpPr>
          <p:cNvPr id="6" name="Solution card"/>
          <p:cNvSpPr/>
          <p:nvPr/>
        </p:nvSpPr>
        <p:spPr>
          <a:xfrm>
            <a:off x="4709160" y="1280160"/>
            <a:ext cx="397764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olution heading"/>
          <p:cNvSpPr txBox="1"/>
          <p:nvPr/>
        </p:nvSpPr>
        <p:spPr>
          <a:xfrm>
            <a:off x="4983480" y="1463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The CityVision answer</a:t>
            </a:r>
            <a:endParaRPr lang="en-US" sz="2000" dirty="0"/>
          </a:p>
        </p:txBody>
      </p:sp>
      <p:sp>
        <p:nvSpPr>
          <p:cNvPr id="8" name="Solution points"/>
          <p:cNvSpPr txBox="1"/>
          <p:nvPr/>
        </p:nvSpPr>
        <p:spPr>
          <a:xfrm>
            <a:off x="4983480" y="1965960"/>
            <a:ext cx="3429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Integrate six urban domains in one analytical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Clean and standardize with SQL and Python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Interactive Power BI dashboards, forecasting, and recommendations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Six urban domains, one platform</a:t>
            </a:r>
            <a:endParaRPr lang="en-US" sz="3200" dirty="0"/>
          </a:p>
        </p:txBody>
      </p:sp>
      <p:sp>
        <p:nvSpPr>
          <p:cNvPr id="3" name="Domain card Traffic"/>
          <p:cNvSpPr/>
          <p:nvPr/>
        </p:nvSpPr>
        <p:spPr>
          <a:xfrm>
            <a:off x="45720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Domain badge Traffic"/>
          <p:cNvSpPr txBox="1"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Domain name Traffic"/>
          <p:cNvSpPr txBox="1"/>
          <p:nvPr/>
        </p:nvSpPr>
        <p:spPr>
          <a:xfrm>
            <a:off x="123444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Traffic</a:t>
            </a:r>
            <a:endParaRPr lang="en-US" sz="1800" dirty="0"/>
          </a:p>
        </p:txBody>
      </p:sp>
      <p:sp>
        <p:nvSpPr>
          <p:cNvPr id="6" name="Domain desc Traffic"/>
          <p:cNvSpPr txBox="1"/>
          <p:nvPr/>
        </p:nvSpPr>
        <p:spPr>
          <a:xfrm>
            <a:off x="64008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Volume, congestion, peak hours</a:t>
            </a:r>
            <a:endParaRPr lang="en-US" sz="1200" dirty="0"/>
          </a:p>
        </p:txBody>
      </p:sp>
      <p:sp>
        <p:nvSpPr>
          <p:cNvPr id="7" name="Domain card Accidents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Domain badge Accidents"/>
          <p:cNvSpPr txBox="1"/>
          <p:nvPr/>
        </p:nvSpPr>
        <p:spPr>
          <a:xfrm>
            <a:off x="347472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Domain name Accidents"/>
          <p:cNvSpPr txBox="1"/>
          <p:nvPr/>
        </p:nvSpPr>
        <p:spPr>
          <a:xfrm>
            <a:off x="406908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Accidents</a:t>
            </a:r>
            <a:endParaRPr lang="en-US" sz="1800" dirty="0"/>
          </a:p>
        </p:txBody>
      </p:sp>
      <p:sp>
        <p:nvSpPr>
          <p:cNvPr id="10" name="Domain desc Accidents"/>
          <p:cNvSpPr txBox="1"/>
          <p:nvPr/>
        </p:nvSpPr>
        <p:spPr>
          <a:xfrm>
            <a:off x="347472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Frequency, severity, hotspots</a:t>
            </a:r>
            <a:endParaRPr lang="en-US" sz="1200" dirty="0"/>
          </a:p>
        </p:txBody>
      </p:sp>
      <p:sp>
        <p:nvSpPr>
          <p:cNvPr id="11" name="Domain card Weather"/>
          <p:cNvSpPr/>
          <p:nvPr/>
        </p:nvSpPr>
        <p:spPr>
          <a:xfrm>
            <a:off x="612648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Domain badge Weather"/>
          <p:cNvSpPr txBox="1"/>
          <p:nvPr/>
        </p:nvSpPr>
        <p:spPr>
          <a:xfrm>
            <a:off x="630936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Domain name Weather"/>
          <p:cNvSpPr txBox="1"/>
          <p:nvPr/>
        </p:nvSpPr>
        <p:spPr>
          <a:xfrm>
            <a:off x="690372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Weather</a:t>
            </a:r>
            <a:endParaRPr lang="en-US" sz="1800" dirty="0"/>
          </a:p>
        </p:txBody>
      </p:sp>
      <p:sp>
        <p:nvSpPr>
          <p:cNvPr id="14" name="Domain desc Weather"/>
          <p:cNvSpPr txBox="1"/>
          <p:nvPr/>
        </p:nvSpPr>
        <p:spPr>
          <a:xfrm>
            <a:off x="630936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Temperature, rain, wind</a:t>
            </a:r>
            <a:endParaRPr lang="en-US" sz="1200" dirty="0"/>
          </a:p>
        </p:txBody>
      </p:sp>
      <p:sp>
        <p:nvSpPr>
          <p:cNvPr id="15" name="Domain card Air Quality"/>
          <p:cNvSpPr/>
          <p:nvPr/>
        </p:nvSpPr>
        <p:spPr>
          <a:xfrm>
            <a:off x="457200" y="301752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Domain badge Air Quality"/>
          <p:cNvSpPr txBox="1"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Domain name Air Quality"/>
          <p:cNvSpPr txBox="1"/>
          <p:nvPr/>
        </p:nvSpPr>
        <p:spPr>
          <a:xfrm>
            <a:off x="123444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Air Quality</a:t>
            </a:r>
            <a:endParaRPr lang="en-US" sz="1800" dirty="0"/>
          </a:p>
        </p:txBody>
      </p:sp>
      <p:sp>
        <p:nvSpPr>
          <p:cNvPr id="18" name="Domain desc Air Quality"/>
          <p:cNvSpPr txBox="1"/>
          <p:nvPr/>
        </p:nvSpPr>
        <p:spPr>
          <a:xfrm>
            <a:off x="64008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Pollutants and AQI trends</a:t>
            </a:r>
            <a:endParaRPr lang="en-US" sz="1200" dirty="0"/>
          </a:p>
        </p:txBody>
      </p:sp>
      <p:sp>
        <p:nvSpPr>
          <p:cNvPr id="19" name="Domain card Transportation"/>
          <p:cNvSpPr/>
          <p:nvPr/>
        </p:nvSpPr>
        <p:spPr>
          <a:xfrm>
            <a:off x="3291840" y="301752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Domain badge Transportation"/>
          <p:cNvSpPr txBox="1"/>
          <p:nvPr/>
        </p:nvSpPr>
        <p:spPr>
          <a:xfrm>
            <a:off x="347472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1" name="Domain name Transportation"/>
          <p:cNvSpPr txBox="1"/>
          <p:nvPr/>
        </p:nvSpPr>
        <p:spPr>
          <a:xfrm>
            <a:off x="406908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Transportation</a:t>
            </a:r>
            <a:endParaRPr lang="en-US" sz="1800" dirty="0"/>
          </a:p>
        </p:txBody>
      </p:sp>
      <p:sp>
        <p:nvSpPr>
          <p:cNvPr id="22" name="Domain desc Transportation"/>
          <p:cNvSpPr txBox="1"/>
          <p:nvPr/>
        </p:nvSpPr>
        <p:spPr>
          <a:xfrm>
            <a:off x="347472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Routes, ridership, usage</a:t>
            </a:r>
            <a:endParaRPr lang="en-US" sz="1200" dirty="0"/>
          </a:p>
        </p:txBody>
      </p:sp>
      <p:sp>
        <p:nvSpPr>
          <p:cNvPr id="23" name="Domain card Energy"/>
          <p:cNvSpPr/>
          <p:nvPr/>
        </p:nvSpPr>
        <p:spPr>
          <a:xfrm>
            <a:off x="6126480" y="3017520"/>
            <a:ext cx="256032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Domain badge Energy"/>
          <p:cNvSpPr txBox="1"/>
          <p:nvPr/>
        </p:nvSpPr>
        <p:spPr>
          <a:xfrm>
            <a:off x="6309360" y="32004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5" name="Domain name Energy"/>
          <p:cNvSpPr txBox="1"/>
          <p:nvPr/>
        </p:nvSpPr>
        <p:spPr>
          <a:xfrm>
            <a:off x="690372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Energy</a:t>
            </a:r>
            <a:endParaRPr lang="en-US" sz="1800" dirty="0"/>
          </a:p>
        </p:txBody>
      </p:sp>
      <p:sp>
        <p:nvSpPr>
          <p:cNvPr id="26" name="Domain desc Energy"/>
          <p:cNvSpPr txBox="1"/>
          <p:nvPr/>
        </p:nvSpPr>
        <p:spPr>
          <a:xfrm>
            <a:off x="6309360" y="37947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Consumption and demand patterns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What the project sets out to do</a:t>
            </a:r>
            <a:endParaRPr lang="en-US" sz="3200" dirty="0"/>
          </a:p>
        </p:txBody>
      </p:sp>
      <p:sp>
        <p:nvSpPr>
          <p:cNvPr id="3" name="Objective card Prepare"/>
          <p:cNvSpPr/>
          <p:nvPr/>
        </p:nvSpPr>
        <p:spPr>
          <a:xfrm>
            <a:off x="457200" y="1280160"/>
            <a:ext cx="39776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Objective badge Prepare"/>
          <p:cNvSpPr txBox="1"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Objective title Prepare"/>
          <p:cNvSpPr txBox="1"/>
          <p:nvPr/>
        </p:nvSpPr>
        <p:spPr>
          <a:xfrm>
            <a:off x="1234440" y="1463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Prepare</a:t>
            </a:r>
            <a:endParaRPr lang="en-US" sz="2000" dirty="0"/>
          </a:p>
        </p:txBody>
      </p:sp>
      <p:sp>
        <p:nvSpPr>
          <p:cNvPr id="6" name="Objective text Prepare"/>
          <p:cNvSpPr txBox="1"/>
          <p:nvPr/>
        </p:nvSpPr>
        <p:spPr>
          <a:xfrm>
            <a:off x="731520" y="1965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Collect open data for six domains; clean, standardize, and integrate it with SQL and Python.</a:t>
            </a:r>
            <a:endParaRPr lang="en-US" sz="1400" dirty="0"/>
          </a:p>
        </p:txBody>
      </p:sp>
      <p:sp>
        <p:nvSpPr>
          <p:cNvPr id="7" name="Objective card Analyze"/>
          <p:cNvSpPr/>
          <p:nvPr/>
        </p:nvSpPr>
        <p:spPr>
          <a:xfrm>
            <a:off x="4709160" y="1280160"/>
            <a:ext cx="39776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Objective badge Analyze"/>
          <p:cNvSpPr txBox="1"/>
          <p:nvPr/>
        </p:nvSpPr>
        <p:spPr>
          <a:xfrm>
            <a:off x="4892040" y="1463040"/>
            <a:ext cx="411480" cy="41148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Objective title Analyze"/>
          <p:cNvSpPr txBox="1"/>
          <p:nvPr/>
        </p:nvSpPr>
        <p:spPr>
          <a:xfrm>
            <a:off x="5486400" y="1463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Analyze</a:t>
            </a:r>
            <a:endParaRPr lang="en-US" sz="2000" dirty="0"/>
          </a:p>
        </p:txBody>
      </p:sp>
      <p:sp>
        <p:nvSpPr>
          <p:cNvPr id="10" name="Objective text Analyze"/>
          <p:cNvSpPr txBox="1"/>
          <p:nvPr/>
        </p:nvSpPr>
        <p:spPr>
          <a:xfrm>
            <a:off x="4983480" y="196596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 exploratory analysis to uncover trends, patterns, and cross-domain relationships.</a:t>
            </a:r>
            <a:endParaRPr lang="en-US" sz="1400" dirty="0"/>
          </a:p>
        </p:txBody>
      </p:sp>
      <p:sp>
        <p:nvSpPr>
          <p:cNvPr id="11" name="Objective card Visualize"/>
          <p:cNvSpPr/>
          <p:nvPr/>
        </p:nvSpPr>
        <p:spPr>
          <a:xfrm>
            <a:off x="457200" y="3017520"/>
            <a:ext cx="39776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Objective badge Visualize"/>
          <p:cNvSpPr txBox="1"/>
          <p:nvPr/>
        </p:nvSpPr>
        <p:spPr>
          <a:xfrm>
            <a:off x="640080" y="3200400"/>
            <a:ext cx="411480" cy="41148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Objective title Visualize"/>
          <p:cNvSpPr txBox="1"/>
          <p:nvPr/>
        </p:nvSpPr>
        <p:spPr>
          <a:xfrm>
            <a:off x="123444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Visualize</a:t>
            </a:r>
            <a:endParaRPr lang="en-US" sz="2000" dirty="0"/>
          </a:p>
        </p:txBody>
      </p:sp>
      <p:sp>
        <p:nvSpPr>
          <p:cNvPr id="14" name="Objective text Visualize"/>
          <p:cNvSpPr txBox="1"/>
          <p:nvPr/>
        </p:nvSpPr>
        <p:spPr>
          <a:xfrm>
            <a:off x="731520" y="3703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interactive Power BI dashboards with KPIs, maps, and time and location filters.</a:t>
            </a:r>
            <a:endParaRPr lang="en-US" sz="1400" dirty="0"/>
          </a:p>
        </p:txBody>
      </p:sp>
      <p:sp>
        <p:nvSpPr>
          <p:cNvPr id="15" name="Objective card Predict &amp; Advise"/>
          <p:cNvSpPr/>
          <p:nvPr/>
        </p:nvSpPr>
        <p:spPr>
          <a:xfrm>
            <a:off x="4709160" y="3017520"/>
            <a:ext cx="39776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Objective badge Predict &amp;amp; Advise"/>
          <p:cNvSpPr txBox="1"/>
          <p:nvPr/>
        </p:nvSpPr>
        <p:spPr>
          <a:xfrm>
            <a:off x="4892040" y="3200400"/>
            <a:ext cx="411480" cy="41148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Objective title Predict &amp;amp; Advise"/>
          <p:cNvSpPr txBox="1"/>
          <p:nvPr/>
        </p:nvSpPr>
        <p:spPr>
          <a:xfrm>
            <a:off x="5486400" y="32004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Predict &amp; Advise</a:t>
            </a:r>
            <a:endParaRPr lang="en-US" sz="2000" dirty="0"/>
          </a:p>
        </p:txBody>
      </p:sp>
      <p:sp>
        <p:nvSpPr>
          <p:cNvPr id="18" name="Objective text Predict &amp;amp; Advise"/>
          <p:cNvSpPr txBox="1"/>
          <p:nvPr/>
        </p:nvSpPr>
        <p:spPr>
          <a:xfrm>
            <a:off x="4983480" y="3703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Forecast a key indicator against a baseline and turn findings into recommendations.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Scope: what is in and what is out</a:t>
            </a:r>
            <a:endParaRPr lang="en-US" sz="3200" dirty="0"/>
          </a:p>
        </p:txBody>
      </p:sp>
      <p:sp>
        <p:nvSpPr>
          <p:cNvPr id="3" name="In scope card"/>
          <p:cNvSpPr/>
          <p:nvPr/>
        </p:nvSpPr>
        <p:spPr>
          <a:xfrm>
            <a:off x="457200" y="1280160"/>
            <a:ext cx="397764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In scope heading"/>
          <p:cNvSpPr txBox="1"/>
          <p:nvPr/>
        </p:nvSpPr>
        <p:spPr>
          <a:xfrm>
            <a:off x="731520" y="1463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In scope</a:t>
            </a:r>
            <a:endParaRPr lang="en-US" sz="2000" dirty="0"/>
          </a:p>
        </p:txBody>
      </p:sp>
      <p:sp>
        <p:nvSpPr>
          <p:cNvPr id="5" name="In scope points"/>
          <p:cNvSpPr txBox="1"/>
          <p:nvPr/>
        </p:nvSpPr>
        <p:spPr>
          <a:xfrm>
            <a:off x="731520" y="1965960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 data from reliable sources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Cleaning, transformation, integration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SQL, Python analysis, data modeling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Power BI dashboards and KPIs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Forecasting and recommendations</a:t>
            </a:r>
            <a:endParaRPr lang="en-US" sz="1400" dirty="0"/>
          </a:p>
        </p:txBody>
      </p:sp>
      <p:sp>
        <p:nvSpPr>
          <p:cNvPr id="6" name="Out of scope card"/>
          <p:cNvSpPr/>
          <p:nvPr/>
        </p:nvSpPr>
        <p:spPr>
          <a:xfrm>
            <a:off x="4709160" y="1280160"/>
            <a:ext cx="3977640" cy="3200400"/>
          </a:xfrm>
          <a:prstGeom prst="roundRect">
            <a:avLst>
              <a:gd name="adj" fmla="val 342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Out of scope heading"/>
          <p:cNvSpPr txBox="1"/>
          <p:nvPr/>
        </p:nvSpPr>
        <p:spPr>
          <a:xfrm>
            <a:off x="4983480" y="1463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5"/>
                </a:solidFill>
              </a:rPr>
              <a:t>Out of scope</a:t>
            </a:r>
            <a:endParaRPr lang="en-US" sz="2000" dirty="0"/>
          </a:p>
        </p:txBody>
      </p:sp>
      <p:sp>
        <p:nvSpPr>
          <p:cNvPr id="8" name="Out of scope points"/>
          <p:cNvSpPr txBox="1"/>
          <p:nvPr/>
        </p:nvSpPr>
        <p:spPr>
          <a:xfrm>
            <a:off x="4983480" y="1965960"/>
            <a:ext cx="34290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Controlling traffic lights or infrastructure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Deploying IoT sensors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real-time operational system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 citizen mobile app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Paid cloud services without approval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Six weeks from raw data to final delivery</a:t>
            </a:r>
            <a:endParaRPr lang="en-US" sz="3200" dirty="0"/>
          </a:p>
        </p:txBody>
      </p:sp>
      <p:sp>
        <p:nvSpPr>
          <p:cNvPr id="3" name="Week card 1"/>
          <p:cNvSpPr/>
          <p:nvPr/>
        </p:nvSpPr>
        <p:spPr>
          <a:xfrm>
            <a:off x="457200" y="1280160"/>
            <a:ext cx="1280160" cy="301752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Week badge 1"/>
          <p:cNvSpPr txBox="1"/>
          <p:nvPr/>
        </p:nvSpPr>
        <p:spPr>
          <a:xfrm>
            <a:off x="86868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Week label 1"/>
          <p:cNvSpPr txBox="1"/>
          <p:nvPr/>
        </p:nvSpPr>
        <p:spPr>
          <a:xfrm>
            <a:off x="54864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Week 1</a:t>
            </a:r>
            <a:endParaRPr lang="en-US" sz="1200" dirty="0"/>
          </a:p>
        </p:txBody>
      </p:sp>
      <p:sp>
        <p:nvSpPr>
          <p:cNvPr id="6" name="Week phase 1"/>
          <p:cNvSpPr txBox="1"/>
          <p:nvPr/>
        </p:nvSpPr>
        <p:spPr>
          <a:xfrm>
            <a:off x="5486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Planning</a:t>
            </a:r>
            <a:endParaRPr lang="en-US" sz="1400" dirty="0"/>
          </a:p>
        </p:txBody>
      </p:sp>
      <p:sp>
        <p:nvSpPr>
          <p:cNvPr id="7" name="Week deliverable 1"/>
          <p:cNvSpPr txBox="1"/>
          <p:nvPr/>
        </p:nvSpPr>
        <p:spPr>
          <a:xfrm>
            <a:off x="548640" y="3200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Proposal, dataset inventory</a:t>
            </a:r>
            <a:endParaRPr lang="en-US" sz="1200" dirty="0"/>
          </a:p>
        </p:txBody>
      </p:sp>
      <p:sp>
        <p:nvSpPr>
          <p:cNvPr id="8" name="Week card 2"/>
          <p:cNvSpPr/>
          <p:nvPr/>
        </p:nvSpPr>
        <p:spPr>
          <a:xfrm>
            <a:off x="1847088" y="1280160"/>
            <a:ext cx="1280160" cy="301752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Week badge 2"/>
          <p:cNvSpPr txBox="1"/>
          <p:nvPr/>
        </p:nvSpPr>
        <p:spPr>
          <a:xfrm>
            <a:off x="2258568" y="14630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Week label 2"/>
          <p:cNvSpPr txBox="1"/>
          <p:nvPr/>
        </p:nvSpPr>
        <p:spPr>
          <a:xfrm>
            <a:off x="1938528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Week 2</a:t>
            </a:r>
            <a:endParaRPr lang="en-US" sz="1200" dirty="0"/>
          </a:p>
        </p:txBody>
      </p:sp>
      <p:sp>
        <p:nvSpPr>
          <p:cNvPr id="11" name="Week phase 2"/>
          <p:cNvSpPr txBox="1"/>
          <p:nvPr/>
        </p:nvSpPr>
        <p:spPr>
          <a:xfrm>
            <a:off x="1938528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Cleaning &amp; Integration</a:t>
            </a:r>
            <a:endParaRPr lang="en-US" sz="1400" dirty="0"/>
          </a:p>
        </p:txBody>
      </p:sp>
      <p:sp>
        <p:nvSpPr>
          <p:cNvPr id="12" name="Week deliverable 2"/>
          <p:cNvSpPr txBox="1"/>
          <p:nvPr/>
        </p:nvSpPr>
        <p:spPr>
          <a:xfrm>
            <a:off x="1938528" y="3200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Clean data, SQL scripts</a:t>
            </a:r>
            <a:endParaRPr lang="en-US" sz="1200" dirty="0"/>
          </a:p>
        </p:txBody>
      </p:sp>
      <p:sp>
        <p:nvSpPr>
          <p:cNvPr id="13" name="Week card 3"/>
          <p:cNvSpPr/>
          <p:nvPr/>
        </p:nvSpPr>
        <p:spPr>
          <a:xfrm>
            <a:off x="3236976" y="1280160"/>
            <a:ext cx="1280160" cy="301752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Week badge 3"/>
          <p:cNvSpPr txBox="1"/>
          <p:nvPr/>
        </p:nvSpPr>
        <p:spPr>
          <a:xfrm>
            <a:off x="3648456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5" name="Week label 3"/>
          <p:cNvSpPr txBox="1"/>
          <p:nvPr/>
        </p:nvSpPr>
        <p:spPr>
          <a:xfrm>
            <a:off x="3328416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Week 3</a:t>
            </a:r>
            <a:endParaRPr lang="en-US" sz="1200" dirty="0"/>
          </a:p>
        </p:txBody>
      </p:sp>
      <p:sp>
        <p:nvSpPr>
          <p:cNvPr id="16" name="Week phase 3"/>
          <p:cNvSpPr txBox="1"/>
          <p:nvPr/>
        </p:nvSpPr>
        <p:spPr>
          <a:xfrm>
            <a:off x="3328416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EDA &amp; Modeling</a:t>
            </a:r>
            <a:endParaRPr lang="en-US" sz="1400" dirty="0"/>
          </a:p>
        </p:txBody>
      </p:sp>
      <p:sp>
        <p:nvSpPr>
          <p:cNvPr id="17" name="Week deliverable 3"/>
          <p:cNvSpPr txBox="1"/>
          <p:nvPr/>
        </p:nvSpPr>
        <p:spPr>
          <a:xfrm>
            <a:off x="3328416" y="3200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Notebooks, data model</a:t>
            </a:r>
            <a:endParaRPr lang="en-US" sz="1200" dirty="0"/>
          </a:p>
        </p:txBody>
      </p:sp>
      <p:sp>
        <p:nvSpPr>
          <p:cNvPr id="18" name="Week card 4"/>
          <p:cNvSpPr/>
          <p:nvPr/>
        </p:nvSpPr>
        <p:spPr>
          <a:xfrm>
            <a:off x="4626864" y="1280160"/>
            <a:ext cx="1280160" cy="301752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Week badge 4"/>
          <p:cNvSpPr txBox="1"/>
          <p:nvPr/>
        </p:nvSpPr>
        <p:spPr>
          <a:xfrm>
            <a:off x="5038344" y="1463040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Week label 4"/>
          <p:cNvSpPr txBox="1"/>
          <p:nvPr/>
        </p:nvSpPr>
        <p:spPr>
          <a:xfrm>
            <a:off x="4718304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Week 4</a:t>
            </a:r>
            <a:endParaRPr lang="en-US" sz="1200" dirty="0"/>
          </a:p>
        </p:txBody>
      </p:sp>
      <p:sp>
        <p:nvSpPr>
          <p:cNvPr id="21" name="Week phase 4"/>
          <p:cNvSpPr txBox="1"/>
          <p:nvPr/>
        </p:nvSpPr>
        <p:spPr>
          <a:xfrm>
            <a:off x="4718304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Power BI</a:t>
            </a:r>
            <a:endParaRPr lang="en-US" sz="1400" dirty="0"/>
          </a:p>
        </p:txBody>
      </p:sp>
      <p:sp>
        <p:nvSpPr>
          <p:cNvPr id="22" name="Week deliverable 4"/>
          <p:cNvSpPr txBox="1"/>
          <p:nvPr/>
        </p:nvSpPr>
        <p:spPr>
          <a:xfrm>
            <a:off x="4718304" y="3200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Dashboard MVP</a:t>
            </a:r>
            <a:endParaRPr lang="en-US" sz="1200" dirty="0"/>
          </a:p>
        </p:txBody>
      </p:sp>
      <p:sp>
        <p:nvSpPr>
          <p:cNvPr id="23" name="Week card 5"/>
          <p:cNvSpPr/>
          <p:nvPr/>
        </p:nvSpPr>
        <p:spPr>
          <a:xfrm>
            <a:off x="6016752" y="1280160"/>
            <a:ext cx="1280160" cy="301752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Week badge 5"/>
          <p:cNvSpPr txBox="1"/>
          <p:nvPr/>
        </p:nvSpPr>
        <p:spPr>
          <a:xfrm>
            <a:off x="6428232" y="146304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Week label 5"/>
          <p:cNvSpPr txBox="1"/>
          <p:nvPr/>
        </p:nvSpPr>
        <p:spPr>
          <a:xfrm>
            <a:off x="6108192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Week 5</a:t>
            </a:r>
            <a:endParaRPr lang="en-US" sz="1200" dirty="0"/>
          </a:p>
        </p:txBody>
      </p:sp>
      <p:sp>
        <p:nvSpPr>
          <p:cNvPr id="26" name="Week phase 5"/>
          <p:cNvSpPr txBox="1"/>
          <p:nvPr/>
        </p:nvSpPr>
        <p:spPr>
          <a:xfrm>
            <a:off x="6108192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Forecasting</a:t>
            </a:r>
            <a:endParaRPr lang="en-US" sz="1400" dirty="0"/>
          </a:p>
        </p:txBody>
      </p:sp>
      <p:sp>
        <p:nvSpPr>
          <p:cNvPr id="27" name="Week deliverable 5"/>
          <p:cNvSpPr txBox="1"/>
          <p:nvPr/>
        </p:nvSpPr>
        <p:spPr>
          <a:xfrm>
            <a:off x="6108192" y="3200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Forecast model, advice</a:t>
            </a:r>
            <a:endParaRPr lang="en-US" sz="1200" dirty="0"/>
          </a:p>
        </p:txBody>
      </p:sp>
      <p:sp>
        <p:nvSpPr>
          <p:cNvPr id="28" name="Week card 6"/>
          <p:cNvSpPr/>
          <p:nvPr/>
        </p:nvSpPr>
        <p:spPr>
          <a:xfrm>
            <a:off x="7406640" y="1280160"/>
            <a:ext cx="1280160" cy="301752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Week badge 6"/>
          <p:cNvSpPr txBox="1"/>
          <p:nvPr/>
        </p:nvSpPr>
        <p:spPr>
          <a:xfrm>
            <a:off x="7818120" y="146304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30" name="Week label 6"/>
          <p:cNvSpPr txBox="1"/>
          <p:nvPr/>
        </p:nvSpPr>
        <p:spPr>
          <a:xfrm>
            <a:off x="7498080" y="2011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Week 6</a:t>
            </a:r>
            <a:endParaRPr lang="en-US" sz="1200" dirty="0"/>
          </a:p>
        </p:txBody>
      </p:sp>
      <p:sp>
        <p:nvSpPr>
          <p:cNvPr id="31" name="Week phase 6"/>
          <p:cNvSpPr txBox="1"/>
          <p:nvPr/>
        </p:nvSpPr>
        <p:spPr>
          <a:xfrm>
            <a:off x="749808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Testing &amp; Delivery</a:t>
            </a:r>
            <a:endParaRPr lang="en-US" sz="1400" dirty="0"/>
          </a:p>
        </p:txBody>
      </p:sp>
      <p:sp>
        <p:nvSpPr>
          <p:cNvPr id="32" name="Week deliverable 6"/>
          <p:cNvSpPr txBox="1"/>
          <p:nvPr/>
        </p:nvSpPr>
        <p:spPr>
          <a:xfrm>
            <a:off x="7498080" y="32004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Final report, presentation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the data flows through the project</a:t>
            </a:r>
            <a:endParaRPr lang="en-US" sz="3200" dirty="0"/>
          </a:p>
        </p:txBody>
      </p:sp>
      <p:sp>
        <p:nvSpPr>
          <p:cNvPr id="3" name="Flow box Open Data"/>
          <p:cNvSpPr/>
          <p:nvPr/>
        </p:nvSpPr>
        <p:spPr>
          <a:xfrm>
            <a:off x="457200" y="1371600"/>
            <a:ext cx="1371600" cy="1554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Flow title Open Data"/>
          <p:cNvSpPr txBox="1"/>
          <p:nvPr/>
        </p:nvSpPr>
        <p:spPr>
          <a:xfrm>
            <a:off x="548640" y="1600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Open Data</a:t>
            </a:r>
            <a:endParaRPr lang="en-US" sz="1800" dirty="0"/>
          </a:p>
        </p:txBody>
      </p:sp>
      <p:sp>
        <p:nvSpPr>
          <p:cNvPr id="5" name="Flow sub Open Data"/>
          <p:cNvSpPr txBox="1"/>
          <p:nvPr/>
        </p:nvSpPr>
        <p:spPr>
          <a:xfrm>
            <a:off x="548640" y="21488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Six domains</a:t>
            </a:r>
            <a:endParaRPr lang="en-US" sz="1200" dirty="0"/>
          </a:p>
        </p:txBody>
      </p:sp>
      <p:sp>
        <p:nvSpPr>
          <p:cNvPr id="6" name="Flow arrow 1"/>
          <p:cNvSpPr/>
          <p:nvPr/>
        </p:nvSpPr>
        <p:spPr>
          <a:xfrm>
            <a:off x="1874520" y="1965960"/>
            <a:ext cx="292608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7" name="Flow box SQL"/>
          <p:cNvSpPr/>
          <p:nvPr/>
        </p:nvSpPr>
        <p:spPr>
          <a:xfrm>
            <a:off x="2171700" y="1371600"/>
            <a:ext cx="1371600" cy="1554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Flow title SQL"/>
          <p:cNvSpPr txBox="1"/>
          <p:nvPr/>
        </p:nvSpPr>
        <p:spPr>
          <a:xfrm>
            <a:off x="2263140" y="1600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SQL</a:t>
            </a:r>
            <a:endParaRPr lang="en-US" sz="1800" dirty="0"/>
          </a:p>
        </p:txBody>
      </p:sp>
      <p:sp>
        <p:nvSpPr>
          <p:cNvPr id="9" name="Flow sub SQL"/>
          <p:cNvSpPr txBox="1"/>
          <p:nvPr/>
        </p:nvSpPr>
        <p:spPr>
          <a:xfrm>
            <a:off x="2263140" y="21488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Clean and integrate</a:t>
            </a:r>
            <a:endParaRPr lang="en-US" sz="1200" dirty="0"/>
          </a:p>
        </p:txBody>
      </p:sp>
      <p:sp>
        <p:nvSpPr>
          <p:cNvPr id="10" name="Flow arrow 2"/>
          <p:cNvSpPr/>
          <p:nvPr/>
        </p:nvSpPr>
        <p:spPr>
          <a:xfrm>
            <a:off x="3589020" y="1965960"/>
            <a:ext cx="292608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1" name="Flow box Python"/>
          <p:cNvSpPr/>
          <p:nvPr/>
        </p:nvSpPr>
        <p:spPr>
          <a:xfrm>
            <a:off x="3886200" y="1371600"/>
            <a:ext cx="1371600" cy="1554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Flow title Python"/>
          <p:cNvSpPr txBox="1"/>
          <p:nvPr/>
        </p:nvSpPr>
        <p:spPr>
          <a:xfrm>
            <a:off x="3977640" y="1600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Python</a:t>
            </a:r>
            <a:endParaRPr lang="en-US" sz="1800" dirty="0"/>
          </a:p>
        </p:txBody>
      </p:sp>
      <p:sp>
        <p:nvSpPr>
          <p:cNvPr id="13" name="Flow sub Python"/>
          <p:cNvSpPr txBox="1"/>
          <p:nvPr/>
        </p:nvSpPr>
        <p:spPr>
          <a:xfrm>
            <a:off x="3977640" y="21488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EDA and forecasting</a:t>
            </a:r>
            <a:endParaRPr lang="en-US" sz="1200" dirty="0"/>
          </a:p>
        </p:txBody>
      </p:sp>
      <p:sp>
        <p:nvSpPr>
          <p:cNvPr id="14" name="Flow arrow 3"/>
          <p:cNvSpPr/>
          <p:nvPr/>
        </p:nvSpPr>
        <p:spPr>
          <a:xfrm>
            <a:off x="5303520" y="1965960"/>
            <a:ext cx="292608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5" name="Flow box Power BI"/>
          <p:cNvSpPr/>
          <p:nvPr/>
        </p:nvSpPr>
        <p:spPr>
          <a:xfrm>
            <a:off x="5600700" y="1371600"/>
            <a:ext cx="1371600" cy="155448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Flow title Power BI"/>
          <p:cNvSpPr txBox="1"/>
          <p:nvPr/>
        </p:nvSpPr>
        <p:spPr>
          <a:xfrm>
            <a:off x="5692140" y="1600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Power BI</a:t>
            </a:r>
            <a:endParaRPr lang="en-US" sz="1800" dirty="0"/>
          </a:p>
        </p:txBody>
      </p:sp>
      <p:sp>
        <p:nvSpPr>
          <p:cNvPr id="17" name="Flow sub Power BI"/>
          <p:cNvSpPr txBox="1"/>
          <p:nvPr/>
        </p:nvSpPr>
        <p:spPr>
          <a:xfrm>
            <a:off x="5692140" y="21488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Interactive dashboards</a:t>
            </a:r>
            <a:endParaRPr lang="en-US" sz="1200" dirty="0"/>
          </a:p>
        </p:txBody>
      </p:sp>
      <p:sp>
        <p:nvSpPr>
          <p:cNvPr id="18" name="Flow arrow 4"/>
          <p:cNvSpPr/>
          <p:nvPr/>
        </p:nvSpPr>
        <p:spPr>
          <a:xfrm>
            <a:off x="7018020" y="1965960"/>
            <a:ext cx="292608" cy="274320"/>
          </a:xfrm>
          <a:prstGeom prst="rightArrow">
            <a:avLst/>
          </a:prstGeom>
          <a:solidFill>
            <a:schemeClr val="accent1"/>
          </a:solidFill>
          <a:ln/>
        </p:spPr>
      </p:sp>
      <p:sp>
        <p:nvSpPr>
          <p:cNvPr id="19" name="Flow box Insights"/>
          <p:cNvSpPr/>
          <p:nvPr/>
        </p:nvSpPr>
        <p:spPr>
          <a:xfrm>
            <a:off x="7315200" y="1371600"/>
            <a:ext cx="1371600" cy="155448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Flow title Insights"/>
          <p:cNvSpPr txBox="1"/>
          <p:nvPr/>
        </p:nvSpPr>
        <p:spPr>
          <a:xfrm>
            <a:off x="7406640" y="160020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Insights</a:t>
            </a:r>
            <a:endParaRPr lang="en-US" sz="1800" dirty="0"/>
          </a:p>
        </p:txBody>
      </p:sp>
      <p:sp>
        <p:nvSpPr>
          <p:cNvPr id="21" name="Flow sub Insights"/>
          <p:cNvSpPr txBox="1"/>
          <p:nvPr/>
        </p:nvSpPr>
        <p:spPr>
          <a:xfrm>
            <a:off x="7406640" y="2148840"/>
            <a:ext cx="1188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22" name="Tools card"/>
          <p:cNvSpPr/>
          <p:nvPr/>
        </p:nvSpPr>
        <p:spPr>
          <a:xfrm>
            <a:off x="457200" y="3383280"/>
            <a:ext cx="8229600" cy="109728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3" name="Tools heading"/>
          <p:cNvSpPr txBox="1"/>
          <p:nvPr/>
        </p:nvSpPr>
        <p:spPr>
          <a:xfrm>
            <a:off x="731520" y="3520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Tools</a:t>
            </a:r>
            <a:endParaRPr lang="en-US" sz="1600" dirty="0"/>
          </a:p>
        </p:txBody>
      </p:sp>
      <p:sp>
        <p:nvSpPr>
          <p:cNvPr id="24" name="Tools list"/>
          <p:cNvSpPr txBox="1"/>
          <p:nvPr/>
        </p:nvSpPr>
        <p:spPr>
          <a:xfrm>
            <a:off x="731520" y="38862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SQL Server / PostgreSQL  ·  Python &amp; Jupyter  ·  Power BI Desktop  ·  Git &amp; GitHub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Team and roles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4572000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Member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آلاء أيمن رمضان إسماعيل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Team Leader &amp; Coordinator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نيرة أبو الفتوح عبد المحسن سالم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Data Sources &amp; Data Quality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عبد الرحمن محمد عبد العظيم قناوي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SQL Developer &amp; Integration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شهد سليمان العمروسي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Python Data Analyst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مروة ناصر عبد الرحمن سويلم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Power BI Developer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ضياء محمد إبراهيم السيد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Forecasting, QA &amp; Reporting</a:t>
                      </a:r>
                      <a:endParaRPr lang="en-US" sz="1400" dirty="0"/>
                    </a:p>
                  </a:txBody>
                  <a:tcPr marL="137160" marR="137160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Top risks and how we handle them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051560"/>
                <a:gridCol w="868680"/>
                <a:gridCol w="35661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Probability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Impact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B4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Insufficient data for a domain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1495B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1495B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Find alternative sources; narrow scope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Inconsistent formats and timestamps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1495B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1495B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Standardize schemas, units, dates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Difficult dataset integration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1495B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1495B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Validate shared keys, time, location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Poor forecast performance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A33A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1495B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Baseline and time-aware validation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SQL vs Power BI mismatch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A33A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1495B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Reconcile totals on reference cases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4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Correlation read as causation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2A33A"/>
                          </a:solidFill>
                        </a:rPr>
                        <a:t>Medium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1495B"/>
                          </a:solidFill>
                        </a:rPr>
                        <a:t>High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F2A"/>
                          </a:solidFill>
                        </a:rPr>
                        <a:t>Separate association from causation</a:t>
                      </a:r>
                      <a:endParaRPr lang="en-US" sz="1400" dirty="0"/>
                    </a:p>
                  </a:txBody>
                  <a:tcPr marL="109728" marR="109728" marT="0" marB="0" anchor="ctr">
                    <a:lnL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E3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How we will measure success</a:t>
            </a:r>
            <a:endParaRPr lang="en-US" sz="3200" dirty="0"/>
          </a:p>
        </p:txBody>
      </p:sp>
      <p:sp>
        <p:nvSpPr>
          <p:cNvPr id="3" name="KPI card 1"/>
          <p:cNvSpPr/>
          <p:nvPr/>
        </p:nvSpPr>
        <p:spPr>
          <a:xfrm>
            <a:off x="457200" y="1280160"/>
            <a:ext cx="1920240" cy="25603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KPI badge 1"/>
          <p:cNvSpPr txBox="1"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KPI stat 1"/>
          <p:cNvSpPr txBox="1"/>
          <p:nvPr/>
        </p:nvSpPr>
        <p:spPr>
          <a:xfrm>
            <a:off x="59436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≥ 95%</a:t>
            </a:r>
            <a:endParaRPr lang="en-US" sz="2800" dirty="0"/>
          </a:p>
        </p:txBody>
      </p:sp>
      <p:sp>
        <p:nvSpPr>
          <p:cNvPr id="6" name="KPI label 1"/>
          <p:cNvSpPr txBox="1"/>
          <p:nvPr/>
        </p:nvSpPr>
        <p:spPr>
          <a:xfrm>
            <a:off x="594360" y="27432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Data completeness in required fields</a:t>
            </a:r>
            <a:endParaRPr lang="en-US" sz="1400" dirty="0"/>
          </a:p>
        </p:txBody>
      </p:sp>
      <p:sp>
        <p:nvSpPr>
          <p:cNvPr id="7" name="KPI card 2"/>
          <p:cNvSpPr/>
          <p:nvPr/>
        </p:nvSpPr>
        <p:spPr>
          <a:xfrm>
            <a:off x="2560320" y="1280160"/>
            <a:ext cx="1920240" cy="25603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KPI badge 2"/>
          <p:cNvSpPr txBox="1"/>
          <p:nvPr/>
        </p:nvSpPr>
        <p:spPr>
          <a:xfrm>
            <a:off x="2743200" y="1463040"/>
            <a:ext cx="365760" cy="36576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KPI stat 2"/>
          <p:cNvSpPr txBox="1"/>
          <p:nvPr/>
        </p:nvSpPr>
        <p:spPr>
          <a:xfrm>
            <a:off x="269748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≤ 5 sec</a:t>
            </a:r>
            <a:endParaRPr lang="en-US" sz="2800" dirty="0"/>
          </a:p>
        </p:txBody>
      </p:sp>
      <p:sp>
        <p:nvSpPr>
          <p:cNvPr id="10" name="KPI label 2"/>
          <p:cNvSpPr txBox="1"/>
          <p:nvPr/>
        </p:nvSpPr>
        <p:spPr>
          <a:xfrm>
            <a:off x="2697480" y="27432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Main dashboard load time</a:t>
            </a:r>
            <a:endParaRPr lang="en-US" sz="1400" dirty="0"/>
          </a:p>
        </p:txBody>
      </p:sp>
      <p:sp>
        <p:nvSpPr>
          <p:cNvPr id="11" name="KPI card 3"/>
          <p:cNvSpPr/>
          <p:nvPr/>
        </p:nvSpPr>
        <p:spPr>
          <a:xfrm>
            <a:off x="4663440" y="1280160"/>
            <a:ext cx="1920240" cy="25603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KPI badge 3"/>
          <p:cNvSpPr txBox="1"/>
          <p:nvPr/>
        </p:nvSpPr>
        <p:spPr>
          <a:xfrm>
            <a:off x="4846320" y="1463040"/>
            <a:ext cx="365760" cy="36576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KPI stat 3"/>
          <p:cNvSpPr txBox="1"/>
          <p:nvPr/>
        </p:nvSpPr>
        <p:spPr>
          <a:xfrm>
            <a:off x="480060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100%</a:t>
            </a:r>
            <a:endParaRPr lang="en-US" sz="2800" dirty="0"/>
          </a:p>
        </p:txBody>
      </p:sp>
      <p:sp>
        <p:nvSpPr>
          <p:cNvPr id="14" name="KPI label 3"/>
          <p:cNvSpPr txBox="1"/>
          <p:nvPr/>
        </p:nvSpPr>
        <p:spPr>
          <a:xfrm>
            <a:off x="4800600" y="27432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Power BI vs SQL agreement on tested KPIs</a:t>
            </a:r>
            <a:endParaRPr lang="en-US" sz="1400" dirty="0"/>
          </a:p>
        </p:txBody>
      </p:sp>
      <p:sp>
        <p:nvSpPr>
          <p:cNvPr id="15" name="KPI card 4"/>
          <p:cNvSpPr/>
          <p:nvPr/>
        </p:nvSpPr>
        <p:spPr>
          <a:xfrm>
            <a:off x="6766560" y="1280160"/>
            <a:ext cx="1920240" cy="25603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KPI badge 4"/>
          <p:cNvSpPr txBox="1"/>
          <p:nvPr/>
        </p:nvSpPr>
        <p:spPr>
          <a:xfrm>
            <a:off x="6949440" y="1463040"/>
            <a:ext cx="365760" cy="36576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KPI stat 4"/>
          <p:cNvSpPr txBox="1"/>
          <p:nvPr/>
        </p:nvSpPr>
        <p:spPr>
          <a:xfrm>
            <a:off x="690372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Baseline</a:t>
            </a:r>
            <a:endParaRPr lang="en-US" sz="2800" dirty="0"/>
          </a:p>
        </p:txBody>
      </p:sp>
      <p:sp>
        <p:nvSpPr>
          <p:cNvPr id="18" name="KPI label 4"/>
          <p:cNvSpPr txBox="1"/>
          <p:nvPr/>
        </p:nvSpPr>
        <p:spPr>
          <a:xfrm>
            <a:off x="6903720" y="274320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Forecast compared with a baseline using MAE, RMSE, MAPE</a:t>
            </a:r>
            <a:endParaRPr lang="en-US" sz="1400" dirty="0"/>
          </a:p>
        </p:txBody>
      </p:sp>
      <p:sp>
        <p:nvSpPr>
          <p:cNvPr id="19" name="KPI note"/>
          <p:cNvSpPr txBox="1"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6"/>
                </a:solidFill>
              </a:rPr>
              <a:t>Targets are proposed and will be reviewed against the actual datasets.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3200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2"/>
                </a:solidFill>
              </a:rPr>
              <a:t>Deliverables and repository</a:t>
            </a:r>
            <a:endParaRPr lang="en-US" sz="3200" dirty="0"/>
          </a:p>
        </p:txBody>
      </p:sp>
      <p:sp>
        <p:nvSpPr>
          <p:cNvPr id="3" name="Repo card"/>
          <p:cNvSpPr/>
          <p:nvPr/>
        </p:nvSpPr>
        <p:spPr>
          <a:xfrm>
            <a:off x="457200" y="1280160"/>
            <a:ext cx="3977640" cy="3200400"/>
          </a:xfrm>
          <a:prstGeom prst="roundRect">
            <a:avLst>
              <a:gd name="adj" fmla="val 3429"/>
            </a:avLst>
          </a:prstGeom>
          <a:solidFill>
            <a:schemeClr val="tx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Repo heading"/>
          <p:cNvSpPr txBox="1"/>
          <p:nvPr/>
        </p:nvSpPr>
        <p:spPr>
          <a:xfrm>
            <a:off x="731520" y="14173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2"/>
                </a:solidFill>
              </a:rPr>
              <a:t>GitHub repository</a:t>
            </a:r>
            <a:endParaRPr lang="en-US" sz="1600" dirty="0"/>
          </a:p>
        </p:txBody>
      </p:sp>
      <p:sp>
        <p:nvSpPr>
          <p:cNvPr id="5" name="Repo tree"/>
          <p:cNvSpPr txBox="1"/>
          <p:nvPr/>
        </p:nvSpPr>
        <p:spPr>
          <a:xfrm>
            <a:off x="731520" y="1874520"/>
            <a:ext cx="3474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CityVision/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01_Project_Management/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02_Data/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03_SQL/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04_Python/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05_PowerBI/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06_Reports/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CityVision_Presentation.pptx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README.md</a:t>
            </a:r>
            <a:endParaRPr lang="en-US" sz="1200" dirty="0"/>
          </a:p>
        </p:txBody>
      </p:sp>
      <p:sp>
        <p:nvSpPr>
          <p:cNvPr id="6" name="Deliverables heading"/>
          <p:cNvSpPr txBox="1"/>
          <p:nvPr/>
        </p:nvSpPr>
        <p:spPr>
          <a:xfrm>
            <a:off x="4709160" y="128016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What we deliver</a:t>
            </a:r>
            <a:endParaRPr lang="en-US" sz="2000" dirty="0"/>
          </a:p>
        </p:txBody>
      </p:sp>
      <p:sp>
        <p:nvSpPr>
          <p:cNvPr id="7" name="Deliverables list"/>
          <p:cNvSpPr txBox="1"/>
          <p:nvPr/>
        </p:nvSpPr>
        <p:spPr>
          <a:xfrm>
            <a:off x="4709160" y="1783080"/>
            <a:ext cx="39776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Raw and cleaned datasets with a data dictionary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SQL scripts and Python notebooks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Interactive Power BI dashboard (.pbix)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Forecasting model and evaluation report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Final analytical report with recommendations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Final presentation and README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640080" y="13716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From fragmented data to city decisions</a:t>
            </a:r>
            <a:endParaRPr lang="en-US" sz="40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640080" y="30175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CityVision — Smart City Intelligence &amp; Analytics Platform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tyVision">
  <a:themeElements>
    <a:clrScheme name="CityVision">
      <a:dk1>
        <a:srgbClr val="0B1F2A"/>
      </a:dk1>
      <a:lt1>
        <a:srgbClr val="FFFFFF"/>
      </a:lt1>
      <a:dk2>
        <a:srgbClr val="0E3B4A"/>
      </a:dk2>
      <a:lt2>
        <a:srgbClr val="EAF3F4"/>
      </a:lt2>
      <a:accent1>
        <a:srgbClr val="0F8B8D"/>
      </a:accent1>
      <a:accent2>
        <a:srgbClr val="F2A33A"/>
      </a:accent2>
      <a:accent3>
        <a:srgbClr val="2E6F95"/>
      </a:accent3>
      <a:accent4>
        <a:srgbClr val="6BA368"/>
      </a:accent4>
      <a:accent5>
        <a:srgbClr val="D1495B"/>
      </a:accent5>
      <a:accent6>
        <a:srgbClr val="6B7F8C"/>
      </a:accent6>
      <a:hlink>
        <a:srgbClr val="0F8B8D"/>
      </a:hlink>
      <a:folHlink>
        <a:srgbClr val="6B7F8C"/>
      </a:folHlink>
    </a:clrScheme>
    <a:fontScheme name="CityVision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CityVision — Smart City Intelligence &amp; Analytics Platform</dc:title>
  <dc:subject>PptxGenJS Presentation</dc:subject>
  <dc:creator>CityVision Team</dc:creator>
  <cp:lastModifiedBy>CityVision Team</cp:lastModifiedBy>
  <cp:revision>1</cp:revision>
  <dcterms:created xsi:type="dcterms:W3CDTF">2026-10-30T16:27:39Z</dcterms:created>
  <dcterms:modified xsi:type="dcterms:W3CDTF">2026-10-30T16:27:39Z</dcterms:modified>
</cp:coreProperties>
</file>